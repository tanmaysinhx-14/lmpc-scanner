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876" y="10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ultralytics.com/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www.paddleocr.ai/main/en/version3.x/pipeline_usage/PP-ChatOCRv4.html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1080/09540091.2023.2202363" TargetMode="External"/><Relationship Id="rId5" Type="http://schemas.openxmlformats.org/officeDocument/2006/relationships/hyperlink" Target="https://www.indiacode.nic.in/handle/123456789/2102" TargetMode="External"/><Relationship Id="rId4" Type="http://schemas.openxmlformats.org/officeDocument/2006/relationships/hyperlink" Target="https://consumeraffairs.gov.in/pages/legal-metrology-act" TargetMode="External"/><Relationship Id="rId9" Type="http://schemas.openxmlformats.org/officeDocument/2006/relationships/hyperlink" Target="https://docs.openvino.ai/2026/index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976238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329676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1450" y="1549693"/>
            <a:ext cx="6168142" cy="49978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SIH26034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- </a:t>
            </a: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Software System to check compliance of Packaged Commodities under Legal Metrology(Packaged Commodities) Rules, 2011 by scanning products, images and labels.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Theme -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Miscellaneous</a:t>
            </a:r>
          </a:p>
          <a:p>
            <a:pPr marL="285750" indent="-285750"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PS Category -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Team ID -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115</a:t>
            </a:r>
          </a:p>
          <a:p>
            <a:pPr marL="285750" indent="-285750"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 –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Hack4Change</a:t>
            </a:r>
          </a:p>
          <a:p>
            <a:pPr algn="just">
              <a:lnSpc>
                <a:spcPct val="150000"/>
              </a:lnSpc>
              <a:spcBef>
                <a:spcPts val="1200"/>
              </a:spcBef>
            </a:pPr>
            <a:r>
              <a:rPr lang="en-IN" sz="2000" i="1" dirty="0"/>
              <a:t>	"Real-Time Edge AI for Legal Metrology Enforcement"</a:t>
            </a: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136522"/>
            <a:ext cx="10972800" cy="1143000"/>
          </a:xfrm>
        </p:spPr>
        <p:txBody>
          <a:bodyPr/>
          <a:lstStyle/>
          <a:p>
            <a:pPr eaLnBrk="1" hangingPunct="1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AI-Driven Enforcement Prototype </a:t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LMPC Compliance</a:t>
            </a:r>
            <a:endParaRPr lang="en-US" sz="32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329773" y="1437603"/>
            <a:ext cx="5928152" cy="40626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17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700" dirty="0"/>
              <a:t>Edge-deployed CV + NLP pipeline: YOLOv8n + </a:t>
            </a:r>
            <a:r>
              <a:rPr lang="en-IN" sz="1700" dirty="0" err="1"/>
              <a:t>PaddleOCR</a:t>
            </a:r>
            <a:r>
              <a:rPr lang="en-IN" sz="1700" dirty="0"/>
              <a:t> PP-OCRv4 (</a:t>
            </a:r>
            <a:r>
              <a:rPr lang="en-IN" sz="1700" dirty="0" err="1"/>
              <a:t>OpenVINO</a:t>
            </a:r>
            <a:r>
              <a:rPr lang="en-IN" sz="1700" dirty="0"/>
              <a:t>) + deterministic rule engine.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700" dirty="0"/>
              <a:t>Zero cloud dependency — runs entirely on the inspector's device.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700" dirty="0"/>
              <a:t>Real-time AR overlay: green/red compliance verdict rendered directly on the live camera feed.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1700" dirty="0"/>
          </a:p>
          <a:p>
            <a:r>
              <a:rPr lang="en-US" sz="17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How it addresses the problem: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700" dirty="0"/>
              <a:t>Replaces manual, error-prone spot-checks with continuous, objective, real-time screening.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700" dirty="0"/>
              <a:t>No network dependency → works in low-connectivity rural and semi-urban retail markets.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17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 – Hack4Change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Hack4</a:t>
            </a:r>
          </a:p>
          <a:p>
            <a:pPr algn="ctr"/>
            <a:r>
              <a:rPr lang="en-US" dirty="0"/>
              <a:t>Change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3A72AE3-EB97-B8DB-E568-2396B722F6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7800" y="1710790"/>
            <a:ext cx="5481202" cy="2992180"/>
          </a:xfrm>
          <a:prstGeom prst="rect">
            <a:avLst/>
          </a:prstGeom>
          <a:effectLst>
            <a:outerShdw blurRad="101600" algn="ctr" rotWithShape="0">
              <a:prstClr val="black">
                <a:alpha val="50000"/>
              </a:prstClr>
            </a:outerShdw>
          </a:effec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035EC06-A40F-B18F-E4DF-985B1F8857BC}"/>
              </a:ext>
            </a:extLst>
          </p:cNvPr>
          <p:cNvSpPr txBox="1"/>
          <p:nvPr/>
        </p:nvSpPr>
        <p:spPr>
          <a:xfrm>
            <a:off x="329773" y="4976157"/>
            <a:ext cx="11252627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Innovation and Uniqueness: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700" dirty="0"/>
              <a:t>Inspector-facing AR tool, not a retailer-facing app; sidesteps retailer adoption friction entirely.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700" dirty="0"/>
              <a:t>Class-specific routing: text regions go through OCR.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700" dirty="0"/>
              <a:t>Deterministic, rule-based verdicts instead of a black-box LLM judgment.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52401" y="1195300"/>
            <a:ext cx="6553199" cy="5155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/>
            <a:r>
              <a:rPr lang="en-US" sz="1600" b="1" dirty="0">
                <a:latin typeface="Arial" pitchFamily="34" charset="0"/>
                <a:cs typeface="Arial" pitchFamily="34" charset="0"/>
              </a:rPr>
              <a:t>Technologies considered: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dirty="0"/>
              <a:t>YOLOv8n (Ultralytics)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dirty="0"/>
              <a:t>OpenCV, </a:t>
            </a:r>
            <a:r>
              <a:rPr lang="en-IN" sz="1600" dirty="0" err="1"/>
              <a:t>PaddleOCR</a:t>
            </a:r>
            <a:r>
              <a:rPr lang="en-IN" sz="1600" dirty="0"/>
              <a:t> PP-OCRv4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dirty="0"/>
              <a:t>Intel </a:t>
            </a:r>
            <a:r>
              <a:rPr lang="en-IN" sz="1600" dirty="0" err="1"/>
              <a:t>OpenVINO</a:t>
            </a:r>
            <a:r>
              <a:rPr lang="en-IN" sz="1600" dirty="0"/>
              <a:t>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dirty="0"/>
              <a:t>Python · </a:t>
            </a:r>
            <a:r>
              <a:rPr lang="en-IN" sz="1600" dirty="0" err="1"/>
              <a:t>Streamlit</a:t>
            </a:r>
            <a:r>
              <a:rPr lang="en-IN" sz="1600" dirty="0"/>
              <a:t> + </a:t>
            </a:r>
            <a:r>
              <a:rPr lang="en-IN" sz="1600" dirty="0" err="1"/>
              <a:t>streamlit-webrtc</a:t>
            </a:r>
            <a:r>
              <a:rPr lang="en-IN" sz="1600" dirty="0"/>
              <a:t>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dirty="0"/>
              <a:t>SQLite / MariaDB MySQL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dirty="0" err="1"/>
              <a:t>Roboflow</a:t>
            </a:r>
            <a:r>
              <a:rPr lang="en-IN" sz="1600" dirty="0"/>
              <a:t> (annotation + augmentation)</a:t>
            </a:r>
            <a:endParaRPr lang="en-IN" sz="1600" b="1" dirty="0">
              <a:latin typeface="Arial" pitchFamily="34" charset="0"/>
              <a:cs typeface="Arial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IN" sz="1600" b="1" dirty="0">
                <a:latin typeface="Arial" pitchFamily="34" charset="0"/>
                <a:cs typeface="Arial" pitchFamily="34" charset="0"/>
              </a:rPr>
              <a:t>Methodology: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dirty="0">
                <a:latin typeface="Arial" pitchFamily="34" charset="0"/>
                <a:cs typeface="Arial" pitchFamily="34" charset="0"/>
              </a:rPr>
              <a:t>Continuous WebRTC capture/ upload pictures manually.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dirty="0"/>
              <a:t>YOLOv8n detects 7 label-region classes </a:t>
            </a:r>
            <a:r>
              <a:rPr lang="en-IN" sz="1600" dirty="0">
                <a:latin typeface="+mn-lt"/>
              </a:rPr>
              <a:t>(expandable).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dirty="0"/>
              <a:t>Text classes → OpenCV CLAHE contrast enhancement → </a:t>
            </a:r>
            <a:r>
              <a:rPr lang="en-IN" sz="1600" dirty="0" err="1"/>
              <a:t>PaddleOCR</a:t>
            </a:r>
            <a:r>
              <a:rPr lang="en-IN" sz="1600" dirty="0"/>
              <a:t> PP-OCRv4 (</a:t>
            </a:r>
            <a:r>
              <a:rPr lang="en-IN" sz="1600" dirty="0" err="1"/>
              <a:t>OpenVINO</a:t>
            </a:r>
            <a:r>
              <a:rPr lang="en-IN" sz="1600" dirty="0"/>
              <a:t>, CPU) with built-in orientation classifier.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dirty="0" err="1">
                <a:solidFill>
                  <a:srgbClr val="C00000"/>
                </a:solidFill>
                <a:latin typeface="Consolas" panose="020B0609020204030204" pitchFamily="49" charset="0"/>
              </a:rPr>
              <a:t>dietary_symbol_region</a:t>
            </a:r>
            <a:r>
              <a:rPr lang="en-IN" sz="1600" dirty="0">
                <a:solidFill>
                  <a:srgbClr val="C00000"/>
                </a:solidFill>
              </a:rPr>
              <a:t> </a:t>
            </a:r>
            <a:r>
              <a:rPr lang="en-IN" sz="1600" dirty="0"/>
              <a:t>→ OpenCV HSV thresholding (green/brown dot classifier) — bypasses OCR entirely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dirty="0"/>
              <a:t>Transcribed text → deterministic NLP rule engine: regex-first match against the LMPC Rule 6 checklist, </a:t>
            </a:r>
            <a:r>
              <a:rPr lang="en-IN" sz="1600" dirty="0" err="1"/>
              <a:t>Levenshtein</a:t>
            </a:r>
            <a:r>
              <a:rPr lang="en-IN" sz="1600" dirty="0"/>
              <a:t> fuzzy match (ratio &gt; 0.85) as </a:t>
            </a:r>
            <a:r>
              <a:rPr lang="en-IN" sz="1600" i="1" dirty="0"/>
              <a:t>fallback</a:t>
            </a:r>
            <a:r>
              <a:rPr lang="en-IN" sz="1600" dirty="0"/>
              <a:t> only</a:t>
            </a:r>
            <a:r>
              <a:rPr lang="en-IN" sz="1600" b="1" dirty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dirty="0"/>
              <a:t>Verdict + metadata written to a normalized SQLite schema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i="1" dirty="0"/>
              <a:t>(Training-time only)</a:t>
            </a:r>
            <a:r>
              <a:rPr lang="en-IN" sz="1600" dirty="0"/>
              <a:t> </a:t>
            </a:r>
            <a:r>
              <a:rPr lang="en-IN" sz="1600" dirty="0" err="1"/>
              <a:t>Roboflow</a:t>
            </a:r>
            <a:r>
              <a:rPr lang="en-IN" sz="1600" dirty="0"/>
              <a:t>: 3× offline augmentation.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700" dirty="0">
              <a:latin typeface="Consolas" panose="020B0609020204030204" pitchFamily="49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 – Hack4Change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66E2E102-8A55-4218-EBFC-3FCAB1823CD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Hack4</a:t>
            </a:r>
          </a:p>
          <a:p>
            <a:pPr algn="ctr"/>
            <a:r>
              <a:rPr lang="en-US" dirty="0"/>
              <a:t>Change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BAFD3C0-53A1-19E3-F0EB-82A2AE8F4B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8600" y="3801809"/>
            <a:ext cx="4533899" cy="247504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896D54E-9989-686F-EF79-023EEF81B0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6039" y="1195300"/>
            <a:ext cx="4533897" cy="247504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29773" y="1383573"/>
            <a:ext cx="5220127" cy="30162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IN" b="1" dirty="0"/>
              <a:t>Prototype Feasibility: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Pipeline designed to run within a 4GB VRAM ceiling by CPU-offloading OCR.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PP-OCRv4's mobile recognition variant is published at ~11MB, purpose-built for edge/embedded deployment.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Anchor-free YOLOv8n detection head handles the irregular aspect ratios of label text without a fixed-anchor prior.</a:t>
            </a:r>
          </a:p>
          <a:p>
            <a:pPr lvl="0"/>
            <a:endParaRPr lang="en-IN" sz="1400" dirty="0"/>
          </a:p>
          <a:p>
            <a:r>
              <a:rPr lang="en-IN" b="1" dirty="0"/>
              <a:t>Potential Challenges and Risks: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Specular highlights and reflections off plastic/foil packaging.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Cylindrical curvature distorting text on bottles and cans.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Label format variation across manufacturers and retailers.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OCR noise from low-resolution or motion-blurred mobile capture.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 – Hack4Change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9A5E381F-2CA8-2738-7A9B-F3A9EDFE6A8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Hack4</a:t>
            </a:r>
          </a:p>
          <a:p>
            <a:pPr algn="ctr"/>
            <a:r>
              <a:rPr lang="en-US" dirty="0"/>
              <a:t>Change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E3A59B1-E2A5-BA48-AFF2-738A00F41B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673" y="1411273"/>
            <a:ext cx="6150263" cy="335741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BBD88B2-3DC4-639C-8C48-6E3026081464}"/>
              </a:ext>
            </a:extLst>
          </p:cNvPr>
          <p:cNvSpPr txBox="1"/>
          <p:nvPr/>
        </p:nvSpPr>
        <p:spPr>
          <a:xfrm>
            <a:off x="283948" y="4715681"/>
            <a:ext cx="11624102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Strategies to overcome these challenges: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Curvature → </a:t>
            </a:r>
            <a:r>
              <a:rPr lang="en-IN" sz="1400" dirty="0" err="1"/>
              <a:t>PaddleOCR's</a:t>
            </a:r>
            <a:r>
              <a:rPr lang="en-IN" sz="1400" dirty="0"/>
              <a:t> built-in orientation classifier instead of geometric </a:t>
            </a:r>
            <a:r>
              <a:rPr lang="en-IN" sz="1400" dirty="0" err="1"/>
              <a:t>deskewing</a:t>
            </a:r>
            <a:r>
              <a:rPr lang="en-IN" sz="1400" dirty="0"/>
              <a:t>, which assumes a flat plane and fails on cylindrical surfaces.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OCR noise → </a:t>
            </a:r>
            <a:r>
              <a:rPr lang="en-IN" sz="1400" dirty="0" err="1"/>
              <a:t>Levenshtein</a:t>
            </a:r>
            <a:r>
              <a:rPr lang="en-IN" sz="1400" dirty="0"/>
              <a:t> fuzzy fallback (&gt;0.85 ratio) as a safety net only, never the primary validator, so noise can never silently mask a real violation.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Format variation → the 7-class detector plus </a:t>
            </a:r>
            <a:r>
              <a:rPr lang="en-IN" sz="1400" dirty="0" err="1"/>
              <a:t>Roboflow</a:t>
            </a:r>
            <a:r>
              <a:rPr lang="en-IN" sz="1400" dirty="0"/>
              <a:t> augmentation (rotation/shear/HSV jitter) is trained to generalize across label layouts rather than hardcoding one.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29773" y="1202231"/>
            <a:ext cx="4559727" cy="25853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IN" sz="2000" b="1" dirty="0"/>
              <a:t>Potential Impact on the Target Audience:</a:t>
            </a:r>
            <a:endParaRPr lang="en-IN" sz="20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Gives field officers an instant, objective compliance verdict at the point of inspection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Extends enforcement reach into low-connectivity rural and semi-urban retail, not just urban centres.</a:t>
            </a:r>
          </a:p>
          <a:p>
            <a:pPr lvl="0"/>
            <a:endParaRPr lang="en-IN" dirty="0"/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6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 – Hack4Change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A7DF4BFF-D7C0-8734-2A4E-64DEBC121A1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Hack4</a:t>
            </a:r>
          </a:p>
          <a:p>
            <a:pPr algn="ctr"/>
            <a:r>
              <a:rPr lang="en-US" dirty="0"/>
              <a:t>Change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168F7CF-EFDF-6067-704C-528B8A1515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363" y="1302649"/>
            <a:ext cx="6814864" cy="3720224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4DC8CBB-5733-226A-BB15-1CF624BD4CD7}"/>
              </a:ext>
            </a:extLst>
          </p:cNvPr>
          <p:cNvSpPr txBox="1"/>
          <p:nvPr/>
        </p:nvSpPr>
        <p:spPr>
          <a:xfrm>
            <a:off x="329773" y="3403600"/>
            <a:ext cx="4140415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Benefits of the solution:</a:t>
            </a:r>
            <a:endParaRPr lang="en-IN" sz="20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Scales statutory enforcement without scaling inspector headcount.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Shifts enforcement from reactive/manual to continuous/proactive.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7A1C5F-FB23-ABBA-E98E-A077909BE791}"/>
              </a:ext>
            </a:extLst>
          </p:cNvPr>
          <p:cNvSpPr txBox="1"/>
          <p:nvPr/>
        </p:nvSpPr>
        <p:spPr>
          <a:xfrm>
            <a:off x="329773" y="5061587"/>
            <a:ext cx="1153245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Every flagged violation is logged with a timestamp, the specific Rule 6 clause breached, and a Section 36 reference for fine estimation; an audit trail that reduces disputes over ambiguous manual findings.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Deterministic, explainable rule-engine output instead of a black-box GenAI judgment; relevant when the output can support a legal seizure or compounding action.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 – Hack4Change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71FC0B04-4FA8-9A31-3E98-2C30AB59F25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Hack4</a:t>
            </a:r>
          </a:p>
          <a:p>
            <a:pPr algn="ctr"/>
            <a:r>
              <a:rPr lang="en-US" dirty="0"/>
              <a:t>Change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034C94-5723-65D3-EDA1-D572F0C0D167}"/>
              </a:ext>
            </a:extLst>
          </p:cNvPr>
          <p:cNvSpPr txBox="1"/>
          <p:nvPr/>
        </p:nvSpPr>
        <p:spPr>
          <a:xfrm>
            <a:off x="523875" y="1367206"/>
            <a:ext cx="10972800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Legal Metrology (Packaged Commodities) Rules, 2011 — Rule 6 (mandatory package declarations), Department of Consumer Affairs, Ministry of Consumer Affairs, Food &amp; Public Distribution, Government of India.</a:t>
            </a:r>
          </a:p>
          <a:p>
            <a:r>
              <a:rPr lang="en-IN" dirty="0"/>
              <a:t>		</a:t>
            </a:r>
            <a:r>
              <a:rPr lang="en-IN" i="1" dirty="0"/>
              <a:t>Link</a:t>
            </a:r>
            <a:r>
              <a:rPr lang="en-IN" dirty="0"/>
              <a:t>: </a:t>
            </a:r>
            <a:r>
              <a:rPr lang="en-IN" i="1" dirty="0">
                <a:hlinkClick r:id="rId4"/>
              </a:rPr>
              <a:t>https://consumeraffairs.gov.in/pages/legal-metrology-act</a:t>
            </a:r>
            <a:endParaRPr lang="en-IN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The Legal Metrology Act, 2009 — Section 36 (penalty for selling non-standard packages) and Rule 32 (compounding of offences)</a:t>
            </a:r>
          </a:p>
          <a:p>
            <a:r>
              <a:rPr lang="en-IN" dirty="0"/>
              <a:t>		</a:t>
            </a:r>
            <a:r>
              <a:rPr lang="en-IN" i="1" dirty="0"/>
              <a:t>Link</a:t>
            </a:r>
            <a:r>
              <a:rPr lang="en-IN" dirty="0"/>
              <a:t>: </a:t>
            </a:r>
            <a:r>
              <a:rPr lang="en-IN" i="1" dirty="0">
                <a:hlinkClick r:id="rId5"/>
              </a:rPr>
              <a:t>https://www.indiacode.nic.in/handle/123456789/2102</a:t>
            </a:r>
            <a:endParaRPr lang="en-IN" i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Recognition of expiry data on food packages based on improved </a:t>
            </a:r>
            <a:r>
              <a:rPr lang="en-IN" sz="2000" dirty="0" err="1"/>
              <a:t>DBNet</a:t>
            </a:r>
            <a:r>
              <a:rPr lang="en-IN" sz="2000" dirty="0"/>
              <a:t> by Zheng, J., Li, J., Ding, Z., Kong, L., &amp; Chen, Q. (2023). </a:t>
            </a:r>
            <a:r>
              <a:rPr lang="en-IN" sz="2000" i="1" dirty="0"/>
              <a:t>Connection Science</a:t>
            </a:r>
            <a:r>
              <a:rPr lang="en-IN" sz="2000" dirty="0"/>
              <a:t>, </a:t>
            </a:r>
            <a:r>
              <a:rPr lang="en-IN" sz="2000" i="1" dirty="0"/>
              <a:t>35</a:t>
            </a:r>
            <a:r>
              <a:rPr lang="en-IN" sz="2000" dirty="0"/>
              <a:t>(1), 1–16. </a:t>
            </a:r>
          </a:p>
          <a:p>
            <a:r>
              <a:rPr lang="en-IN" dirty="0"/>
              <a:t>		</a:t>
            </a:r>
            <a:r>
              <a:rPr lang="en-IN" i="1" dirty="0"/>
              <a:t>Link</a:t>
            </a:r>
            <a:r>
              <a:rPr lang="en-IN" dirty="0"/>
              <a:t>: </a:t>
            </a:r>
            <a:r>
              <a:rPr lang="en-IN" i="1" dirty="0">
                <a:hlinkClick r:id="rId6"/>
              </a:rPr>
              <a:t>https://doi.org/10.1080/09540091.2023.2202363</a:t>
            </a:r>
            <a:endParaRPr lang="en-IN" i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 err="1"/>
              <a:t>PaddleOCR</a:t>
            </a:r>
            <a:r>
              <a:rPr lang="en-IN" sz="2000" dirty="0"/>
              <a:t> PP-OCRv4 — official model documentation, </a:t>
            </a:r>
            <a:r>
              <a:rPr lang="en-IN" sz="2000" dirty="0" err="1"/>
              <a:t>PaddlePaddle</a:t>
            </a:r>
            <a:r>
              <a:rPr lang="en-IN" sz="2000" dirty="0"/>
              <a:t> team</a:t>
            </a:r>
          </a:p>
          <a:p>
            <a:pPr lvl="0"/>
            <a:r>
              <a:rPr lang="en-IN" dirty="0"/>
              <a:t>		</a:t>
            </a:r>
            <a:r>
              <a:rPr lang="en-IN" i="1" dirty="0"/>
              <a:t>Link</a:t>
            </a:r>
            <a:r>
              <a:rPr lang="en-IN" dirty="0"/>
              <a:t>: </a:t>
            </a:r>
            <a:r>
              <a:rPr lang="en-IN" i="1" dirty="0">
                <a:hlinkClick r:id="rId7"/>
              </a:rPr>
              <a:t>https://www.paddleocr.ai/main/en/version3.x/pipeline_usage/PP-ChatOCRv4.html</a:t>
            </a:r>
            <a:endParaRPr lang="en-IN" i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Ultralytics YOLOv8 — official documentation</a:t>
            </a:r>
          </a:p>
          <a:p>
            <a:pPr lvl="0"/>
            <a:r>
              <a:rPr lang="en-IN" dirty="0"/>
              <a:t>		</a:t>
            </a:r>
            <a:r>
              <a:rPr lang="en-IN" i="1" dirty="0"/>
              <a:t>Link</a:t>
            </a:r>
            <a:r>
              <a:rPr lang="en-IN" dirty="0"/>
              <a:t>: </a:t>
            </a:r>
            <a:r>
              <a:rPr lang="en-IN" i="1" dirty="0">
                <a:hlinkClick r:id="rId8"/>
              </a:rPr>
              <a:t>https://docs.ultralytics.com/</a:t>
            </a:r>
            <a:endParaRPr lang="en-IN" i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Intel </a:t>
            </a:r>
            <a:r>
              <a:rPr lang="en-IN" sz="2000" dirty="0" err="1"/>
              <a:t>OpenVINO</a:t>
            </a:r>
            <a:r>
              <a:rPr lang="en-IN" sz="2000" dirty="0"/>
              <a:t> Toolkit — official documentation</a:t>
            </a:r>
          </a:p>
          <a:p>
            <a:pPr lvl="0"/>
            <a:r>
              <a:rPr lang="en-IN" dirty="0"/>
              <a:t>		</a:t>
            </a:r>
            <a:r>
              <a:rPr lang="en-IN" i="1" dirty="0"/>
              <a:t>Link</a:t>
            </a:r>
            <a:r>
              <a:rPr lang="en-IN" dirty="0"/>
              <a:t>: </a:t>
            </a:r>
            <a:r>
              <a:rPr lang="en-IN" i="1" dirty="0">
                <a:hlinkClick r:id="rId9"/>
              </a:rPr>
              <a:t>https://docs.openvino.ai/2026/index.html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7650</TotalTime>
  <Words>916</Words>
  <Application>Microsoft Office PowerPoint</Application>
  <PresentationFormat>Widescreen</PresentationFormat>
  <Paragraphs>101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Consolas</vt:lpstr>
      <vt:lpstr>Garamond</vt:lpstr>
      <vt:lpstr>Times New Roman</vt:lpstr>
      <vt:lpstr>TradeGothic</vt:lpstr>
      <vt:lpstr>Office Theme</vt:lpstr>
      <vt:lpstr>SMART INDIA HACKATHON 2026</vt:lpstr>
      <vt:lpstr>AI-Driven Enforcement Prototype  for LMPC Compliance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Tanmay Sinha</cp:lastModifiedBy>
  <cp:revision>169</cp:revision>
  <dcterms:created xsi:type="dcterms:W3CDTF">2013-12-12T18:46:50Z</dcterms:created>
  <dcterms:modified xsi:type="dcterms:W3CDTF">2026-08-27T01:37:54Z</dcterms:modified>
  <cp:category/>
</cp:coreProperties>
</file>